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383d92aa-499f-8c7c-8f4e-7deb18eb492e}">
          <p14:sldIdLst>
            <p14:sldId id="256"/>
            <p14:sldId id="257"/>
          </p14:sldIdLst>
        </p14:section>
        <p14:section name="Diseño" id="{aad11564-69cd-658e-123a-6717a003c419}">
          <p14:sldIdLst>
            <p14:sldId id="258"/>
            <p14:sldId id="259"/>
            <p14:sldId id="260"/>
            <p14:sldId id="261"/>
          </p14:sldIdLst>
        </p14:section>
        <p14:section name="Reglas e integraciones" id="{fc1fada2-0d42-f506-ef45-5bf7bcc1583c}">
          <p14:sldIdLst>
            <p14:sldId id="262"/>
            <p14:sldId id="263"/>
            <p14:sldId id="264"/>
            <p14:sldId id="265"/>
          </p14:sldIdLst>
        </p14:section>
        <p14:section name="Escenarios" id="{b4361b64-c916-c0b1-5aab-7ec197eef52b}">
          <p14:sldIdLst>
            <p14:sldId id="266"/>
            <p14:sldId id="267"/>
            <p14:sldId id="268"/>
            <p14:sldId id="269"/>
            <p14:sldId id="270"/>
          </p14:sldIdLst>
        </p14:section>
        <p14:section name="Evidencias" id="{4a14daf5-45d1-bd8e-251e-402805322a3a}">
          <p14:sldIdLst>
            <p14:sldId id="271"/>
            <p14:sldId id="272"/>
          </p14:sldIdLst>
        </p14:section>
        <p14:section name="Cierre" id="{78df8fe9-74a5-c6b8-cf6e-ca68a6c01da4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proceso de gestion de solicitudes de compra modelado, desplegado y ejecutado en jBPM 7.74.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del proceso y sus cifras principales.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del proceso en siete pasos. Las decisiones de negocio están en las reglas, no en el diagrama.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carriles: Solicitante, Sistema, Jefe y Compras. Los grupos controlan quien puede tomar cada tarea.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completo. Las reglas se evaluan en 'Evaluar compra' y 'Liberar memoria'; despues el gateway 'Resultado de reglas' dirige la solicitud.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reglas trabajan sobre el objeto Solicitud, que el proceso inserta en la sesión de reglas.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reglas en cuatro tipos de artefacto. Cada regla cambia la ruta de PENDIENTE a su resultado y deja de aplicar a las demas.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DSL traduce frases en lenguaje natural a DRL, para que el experto de negocio lea y escriba reglas.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escenarios de prueba cubren los cinco caminos de las reglas, incluido el limite exacto de S/ 500 y S/ 500.01.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dos integraciones son work item handlers de jBPM. La clave de Gmail se configura en Business Central, no en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circuitos: flujo exitoso, aprobación adicional, rechazo del jefe y dos excepciones detectadas por las reglas.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Camino resaltado en naranja: el monto no supera S/ 500 y va directo a Compras.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gateway envía la solicitud al carril del jefe; tras aprobar, continua a Compras.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alterno: la decisión humana lleva a la rama de rechazo.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dos excepciones siguen el mismo camino: reglas, liberar memoria, rechazo y correo. La captura muestra el registro de la instancia 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Evidencia de despliegue del contenedor GestionCompras_1.0.0-SNAPSHOT y de las cinco instancias terminadas.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tarea Evaluar solicitud tiene como propietario potencial al grupo jefes.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conclusiones del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recomendaciones para una siguiente versión.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686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Gestión de Solicitudes de Compra  |  Evaluación Final BPM - SOA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Gestión de Solicitudes de Compra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Proceso BPM en jBPM 7.74 con reglas Drools, servicio REST y notificación por Gmail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Desarrollo de Aplicaciones aplicando BPM - SOA  |  Evaluación Final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966960" y="109728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66960" y="1097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652760" y="10972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Solicita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66960" y="205740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6696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652760" y="20574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Valida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66960" y="3017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6696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652760" y="30175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Aprueba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966960" y="39776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6696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0652760" y="39776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Ordena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966960" y="49377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6696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0652760" y="49377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Notifica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Objetivo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Automatizar la solicitud de compra de un producto, desde el registro hasta la notificación del resultado, </a:t>
            </a:r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decidiendo con reglas de negocio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si la compra pasa directo a Compras, requiere aprobación del jefe o se rechaza.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Precio y stock se consultan en un catálogo externo (REST)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umbral de aprobación es S/ 500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solicitante recibe el resultado por Gmail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49440" y="1371600"/>
            <a:ext cx="4663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78040" y="137160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1371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roles en carriles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949440" y="2971800"/>
            <a:ext cx="4663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78040" y="297180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9718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escenarios ejecutados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949440" y="4572000"/>
            <a:ext cx="4663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78040" y="457200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4572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integraciones externas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Diseño del proceso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4630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0"/>
            <a:ext cx="1463040" cy="3291840"/>
          </a:xfrm>
          <a:prstGeom prst="roundRect">
            <a:avLst>
              <a:gd name="adj" fmla="val 5000"/>
            </a:avLst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574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Registrar solicitud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20440"/>
            <a:ext cx="1243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solicitante ingresa producto, cantidad, correo y motivo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67128" y="1828800"/>
            <a:ext cx="14630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7128" y="1828800"/>
            <a:ext cx="1463040" cy="3291840"/>
          </a:xfrm>
          <a:prstGeom prst="roundRect">
            <a:avLst>
              <a:gd name="adj" fmla="val 5000"/>
            </a:avLst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4328" y="20574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2432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58568" y="2743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Consultar producto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276856" y="3520440"/>
            <a:ext cx="1243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Tarea REST al catálogo externo: precio y stock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85616" y="1828800"/>
            <a:ext cx="1463040" cy="32918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85616" y="1828800"/>
            <a:ext cx="1463040" cy="3291840"/>
          </a:xfrm>
          <a:prstGeom prst="roundRect">
            <a:avLst>
              <a:gd name="adj" fmla="val 5000"/>
            </a:avLst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42816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42816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877056" y="2743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Evaluar compra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895344" y="3520440"/>
            <a:ext cx="1243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Reglas Drools validan datos y calculan la ruta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04104" y="1828800"/>
            <a:ext cx="1463040" cy="32918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04104" y="1828800"/>
            <a:ext cx="1463040" cy="3291840"/>
          </a:xfrm>
          <a:prstGeom prst="roundRect">
            <a:avLst>
              <a:gd name="adj" fmla="val 5000"/>
            </a:avLst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61304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61304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95544" y="2743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Decidir ruta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513832" y="3520440"/>
            <a:ext cx="1243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Gateway: rechazo, compra directa o aprobación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022592" y="1828800"/>
            <a:ext cx="14630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22592" y="1828800"/>
            <a:ext cx="1463040" cy="3291840"/>
          </a:xfrm>
          <a:prstGeom prst="roundRect">
            <a:avLst>
              <a:gd name="adj" fmla="val 5000"/>
            </a:avLst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79792" y="20574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79792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114032" y="2743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Evaluar solicitud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3520440"/>
            <a:ext cx="1243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jefe aprueba o rechaza si supera S/ 500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641080" y="1828800"/>
            <a:ext cx="14630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41080" y="1828800"/>
            <a:ext cx="1463040" cy="3291840"/>
          </a:xfrm>
          <a:prstGeom prst="roundRect">
            <a:avLst>
              <a:gd name="adj" fmla="val 5000"/>
            </a:avLst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98280" y="20574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0982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732520" y="2743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Registrar orden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750808" y="3520440"/>
            <a:ext cx="1243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Compras registra la orden autorizada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0259568" y="1828800"/>
            <a:ext cx="14630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59568" y="1828800"/>
            <a:ext cx="1463040" cy="3291840"/>
          </a:xfrm>
          <a:prstGeom prst="roundRect">
            <a:avLst>
              <a:gd name="adj" fmla="val 5000"/>
            </a:avLst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16768" y="20574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71676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351008" y="2743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Notificar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10369296" y="3520440"/>
            <a:ext cx="12435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 envía el resultado por Gmail y termina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Pasos 3 y 4: las reglas deciden y el gateway solo lee la ruta calculada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Actores y roles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2606040" cy="4206240"/>
          </a:xfrm>
          <a:prstGeom prst="roundRect">
            <a:avLst>
              <a:gd name="adj" fmla="val 2807"/>
            </a:avLst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Solicitante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Grupo: solicitantes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Usuario de prueba: solicitante1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60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Tarea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348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Registrar solicitud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55848" y="155448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1554480"/>
            <a:ext cx="2606040" cy="4206240"/>
          </a:xfrm>
          <a:prstGeom prst="roundRect">
            <a:avLst>
              <a:gd name="adj" fmla="val 2807"/>
            </a:avLst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0168" y="182880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30168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J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30168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Jefe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630168" y="32004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Grupo: jefes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Usuario de prueba: jefe1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630168" y="4160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Tarea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30168" y="44348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Evaluar solicitud (total &gt; S/ 500)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63056" y="155448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1554480"/>
            <a:ext cx="2606040" cy="4206240"/>
          </a:xfrm>
          <a:prstGeom prst="roundRect">
            <a:avLst>
              <a:gd name="adj" fmla="val 2807"/>
            </a:avLst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7376" y="182880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37376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37376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Compras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437376" y="32004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Grupo: compras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Usuario de prueba: compras1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4160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Tarea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44348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Registrar orden de compra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970264" y="1554480"/>
            <a:ext cx="2606040" cy="42062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70264" y="1554480"/>
            <a:ext cx="2606040" cy="4206240"/>
          </a:xfrm>
          <a:prstGeom prst="roundRect">
            <a:avLst>
              <a:gd name="adj" fmla="val 2807"/>
            </a:avLst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44584" y="1828800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44584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244584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244584" y="32004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Motor jBPM + Drools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Sin intervención humana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244584" y="4160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Tarea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244584" y="44348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REST, reglas, scripts y Gmail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Cada rol es un carril (swimlane) del diagrama y cada tarea humana se asigna a su grupo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Diagrama BPMN</a:t>
            </a:r>
            <a:endParaRPr lang="en-US" sz="3200" dirty="0"/>
          </a:p>
        </p:txBody>
      </p:sp>
      <p:pic>
        <p:nvPicPr>
          <p:cNvPr id="3" name="Diagrama BPMN" descr="Diagrama BPMN del proceso compras.solicitud con carriles Solicitante, Sistema, Jefe y Compr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94415" cy="32951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324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 carriles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 |  3 tareas humanas  |  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 tareas de reglas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 |  6 gateways exclusivos  |  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REST + Gmail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5353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Proceso compras.solicitud dibujado a partir del archivo GestionProcesoCompra.bpmn (mismo diseño que Business Central)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Objeto de datos Solicitud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394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Campos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productoId, cantidad, motivo, email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Datos que ingresa el solicitante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encontrado, producto, precio, stock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Respuesta del catálogo REST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precio x cantidad (BigDecimal)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ruta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PENDIENTE, RECHAZAR, DIRECTA o APROBACION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resultado, detalle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Mensaje que llega por correo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ptura objeto de datos Solicitud marco"/>
          <p:cNvSpPr/>
          <p:nvPr/>
        </p:nvSpPr>
        <p:spPr>
          <a:xfrm>
            <a:off x="6318504" y="1472184"/>
            <a:ext cx="5330952" cy="3359277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5" name="Captura objeto de datos Solicitud" descr="Captura objeto de datos Solicit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508760"/>
            <a:ext cx="5257800" cy="328612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355080" y="48920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Business Central - editor de objetos de datos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Reglas de negocio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1005840"/>
                <a:gridCol w="4023360"/>
                <a:gridCol w="18288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Regla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Artefacto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Prioridad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Condición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Ruta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DatosInvalidos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Regla con DSL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Producto, cantidad o motivo vacios o &lt;= 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RECHAZAR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ProductoInexistente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Regla guiada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El catálogo responde 404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RECHAZAR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StockInsuficiente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Regla con DSL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cantidad &gt; stock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RECHAZAR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CompraDirecta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Tabla de decisiones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total &lt;= S/ 500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DIRECTA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AprobacionAdicional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Tabla de decisiones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total &gt; S/ 500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APROBACION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LiberarMemoria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Regla guiada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Después de evaluar (grupo liberar-memoria)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Retira el hecho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Todas pertenecen al grupo evaluar-compra (salvo LiberarMemoria). La prioridad decide el orden: un rechazo siempre gana a la ruta por importe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Regla guiada y lenguaje específico (DSL)</a:t>
            </a:r>
            <a:endParaRPr lang="en-US" sz="3200" dirty="0"/>
          </a:p>
        </p:txBody>
      </p:sp>
      <p:sp>
        <p:nvSpPr>
          <p:cNvPr id="3" name="Captura regla guiada ProductoInexistente marco"/>
          <p:cNvSpPr/>
          <p:nvPr/>
        </p:nvSpPr>
        <p:spPr>
          <a:xfrm>
            <a:off x="512064" y="1426464"/>
            <a:ext cx="5468112" cy="344500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Captura regla guiada ProductoInexistente" descr="Captura regla guiada ProductoInexist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394960" cy="3371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937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Regla guiada ProductoInexistente: CUANDO ruta PENDIENTE y no encontrado, ENTONCES rechazar</a:t>
            </a:r>
            <a:endParaRPr lang="en-US" sz="1100" dirty="0"/>
          </a:p>
        </p:txBody>
      </p:sp>
      <p:sp>
        <p:nvSpPr>
          <p:cNvPr id="6" name="Captura regla DSL ValidacionesCompra marco"/>
          <p:cNvSpPr/>
          <p:nvPr/>
        </p:nvSpPr>
        <p:spPr>
          <a:xfrm>
            <a:off x="6208776" y="1426464"/>
            <a:ext cx="5468112" cy="344500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7" name="Captura regla DSL ValidacionesCompra" descr="Captura regla DSL ValidacionesComp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463040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45352" y="4937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Reglas escritas con frases del DSL: "Existe una solicitud de compra pendiente"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Tabla de decisiones y escenarios de prueba</a:t>
            </a:r>
            <a:endParaRPr lang="en-US" sz="3200" dirty="0"/>
          </a:p>
        </p:txBody>
      </p:sp>
      <p:sp>
        <p:nvSpPr>
          <p:cNvPr id="3" name="Captura tabla de decisiones RutaPorImporte marco"/>
          <p:cNvSpPr/>
          <p:nvPr/>
        </p:nvSpPr>
        <p:spPr>
          <a:xfrm>
            <a:off x="512064" y="1426464"/>
            <a:ext cx="5468112" cy="344500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Captura tabla de decisiones RutaPorImporte" descr="Captura tabla de decisiones RutaPorImpor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394960" cy="3371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937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RutaPorImporte.xlsx genera CompraDirecta (&lt;= 500) y AprobacionAdicional (&gt; 500)</a:t>
            </a:r>
            <a:endParaRPr lang="en-US" sz="1100" dirty="0"/>
          </a:p>
        </p:txBody>
      </p:sp>
      <p:sp>
        <p:nvSpPr>
          <p:cNvPr id="6" name="Captura escenarios de prueba aprobados marco"/>
          <p:cNvSpPr/>
          <p:nvPr/>
        </p:nvSpPr>
        <p:spPr>
          <a:xfrm>
            <a:off x="6208776" y="1426464"/>
            <a:ext cx="5468112" cy="344500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7" name="Captura escenarios de prueba aprobados" descr="Captura escenarios de prueba aprobad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463040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45352" y="4937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EvaluarCompra.scesim: 8 escenarios, resultado APROBADA (100 %)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Integraciones con servicios externos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063240" cy="411480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Tarea: Consultar producto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GET https://dummyjson.com/products/{id}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Devuelve título, precio y stock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404 se trata como producto inexistente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Timeouts: 10 s conexión, 15 s lectura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94760" y="1463040"/>
            <a:ext cx="3063240" cy="411480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16916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690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Gmail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Tarea: Enviar resultado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2697480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smtp.gmail.com:587 con TLS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Contraseña de aplicación de Google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Asunto: Solicitud de compra - RESULTADO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Cuerpo HTML con estado, detalle y resumen</a:t>
            </a:r>
            <a:endParaRPr lang="en-US" sz="1400" dirty="0"/>
          </a:p>
        </p:txBody>
      </p:sp>
      <p:sp>
        <p:nvSpPr>
          <p:cNvPr id="15" name="Captura manejadores de items de trabajo marco"/>
          <p:cNvSpPr/>
          <p:nvPr/>
        </p:nvSpPr>
        <p:spPr>
          <a:xfrm>
            <a:off x="7141464" y="1426464"/>
            <a:ext cx="4507992" cy="2844927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16" name="Captura manejadores de items de trabajo" descr="Captura manejadores de items de trabaj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463040"/>
            <a:ext cx="4434840" cy="277177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178040" y="43434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Handlers Rest y Email registrados en el proyecto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Escenarios ejecutados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3017520"/>
                <a:gridCol w="1645920"/>
                <a:gridCol w="2743200"/>
                <a:gridCol w="914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Escenario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Datos (catálogo real)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Ruta de reglas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Resultado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Instancia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Flujo exitoso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CK One x 5 = S/ 249.95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DIRECTA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Orden OC-2026-001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Aprobación adicional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Chanel Coco Noir x 5 = S/ 649.95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APROBACION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Jefe aprueba, orden OC-2026-002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Rechazo del jefe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MacBook Pro x 1 = S/ 1999.99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APROBACION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Jefe rechaza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Excepción: no encontrado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Producto 9999 (HTTP 404)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RECHAZAR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Rechazada por reglas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Excepción: sin stock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MacBook Pro x 30, stock 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RECHAZAR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Rechazada por reglas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Los 5 terminaron en estado Completado y enviaron el correo de resultado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Escenario 1: flujo exitoso (hasta S/ 500)</a:t>
            </a:r>
            <a:endParaRPr lang="en-US" sz="3200" dirty="0"/>
          </a:p>
        </p:txBody>
      </p:sp>
      <p:pic>
        <p:nvPicPr>
          <p:cNvPr id="3" name="Recorrido 65" descr="Recorrido de la instancia 65 resaltado en el diagr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08" y="1234440"/>
            <a:ext cx="10241280" cy="3041721"/>
          </a:xfrm>
          <a:prstGeom prst="rect">
            <a:avLst/>
          </a:prstGeom>
        </p:spPr>
      </p:pic>
      <p:sp>
        <p:nvSpPr>
          <p:cNvPr id="4" name="Variables instancia 65 marco"/>
          <p:cNvSpPr/>
          <p:nvPr/>
        </p:nvSpPr>
        <p:spPr>
          <a:xfrm>
            <a:off x="512064" y="4513905"/>
            <a:ext cx="2724912" cy="173050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5" name="Variables instancia 65" descr="Variables instancia 6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50481"/>
            <a:ext cx="2651760" cy="16573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11880" y="4550481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solicitante1 pide 5 Calvin Klein CK One: total S/ 249.95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Regla CompraDirecta: ruta DIRECTA, sin pasar por el jefe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compras1 registra la orden OC-2026-001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Correo: Solicitud de compra - ORDEN_REGISTRADA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Escenario 2: aprobación adicional del jefe</a:t>
            </a:r>
            <a:endParaRPr lang="en-US" sz="3200" dirty="0"/>
          </a:p>
        </p:txBody>
      </p:sp>
      <p:pic>
        <p:nvPicPr>
          <p:cNvPr id="3" name="Recorrido 66" descr="Recorrido de la instancia 66 resaltado en el diagr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08" y="1234440"/>
            <a:ext cx="10241280" cy="3041721"/>
          </a:xfrm>
          <a:prstGeom prst="rect">
            <a:avLst/>
          </a:prstGeom>
        </p:spPr>
      </p:pic>
      <p:sp>
        <p:nvSpPr>
          <p:cNvPr id="4" name="Variables instancia 66 marco"/>
          <p:cNvSpPr/>
          <p:nvPr/>
        </p:nvSpPr>
        <p:spPr>
          <a:xfrm>
            <a:off x="512064" y="4513905"/>
            <a:ext cx="2724912" cy="173050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5" name="Variables instancia 66" descr="Variables instancia 6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50481"/>
            <a:ext cx="2651760" cy="16573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11880" y="4550481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5 Chanel Coco Noir: total S/ 649.95, mayor a S/ 500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Regla AprobacionAdicional: la tarea va al grupo jefes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jefe1 aprueba (aprobada = true) y compras1 registra OC-2026-002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Correo: Solicitud de compra - ORDEN_REGISTRADA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Escenario 3: el jefe rechaza</a:t>
            </a:r>
            <a:endParaRPr lang="en-US" sz="3200" dirty="0"/>
          </a:p>
        </p:txBody>
      </p:sp>
      <p:pic>
        <p:nvPicPr>
          <p:cNvPr id="3" name="Recorrido 67" descr="Recorrido de la instancia 67 resaltado en el diagr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08" y="1234440"/>
            <a:ext cx="10241280" cy="3041721"/>
          </a:xfrm>
          <a:prstGeom prst="rect">
            <a:avLst/>
          </a:prstGeom>
        </p:spPr>
      </p:pic>
      <p:sp>
        <p:nvSpPr>
          <p:cNvPr id="4" name="Variables instancia 67 marco"/>
          <p:cNvSpPr/>
          <p:nvPr/>
        </p:nvSpPr>
        <p:spPr>
          <a:xfrm>
            <a:off x="512064" y="4513905"/>
            <a:ext cx="2724912" cy="173050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5" name="Variables instancia 67" descr="Variables instancia 67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50481"/>
            <a:ext cx="2651760" cy="16573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11880" y="4550481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 MacBook Pro 14: total S/ 1999.99, requiere aprobación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jefe1 rechaza (aprobada = false)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Validar decision registra: Solicitud rechazada por el jefe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Correo: Solicitud de compra - RECHAZADA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Escenarios 4 y 5: excepciones detectadas por reglas</a:t>
            </a:r>
            <a:endParaRPr lang="en-US" sz="3200" dirty="0"/>
          </a:p>
        </p:txBody>
      </p:sp>
      <p:pic>
        <p:nvPicPr>
          <p:cNvPr id="3" name="Recorrido 68" descr="Recorrido de la instancia 68 resaltado en el diagr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08" y="1234440"/>
            <a:ext cx="10241280" cy="3041721"/>
          </a:xfrm>
          <a:prstGeom prst="rect">
            <a:avLst/>
          </a:prstGeom>
        </p:spPr>
      </p:pic>
      <p:sp>
        <p:nvSpPr>
          <p:cNvPr id="4" name="Registros instancia 69 marco"/>
          <p:cNvSpPr/>
          <p:nvPr/>
        </p:nvSpPr>
        <p:spPr>
          <a:xfrm>
            <a:off x="512064" y="4513905"/>
            <a:ext cx="2724912" cy="173050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5" name="Registros instancia 69" descr="Registros instancia 69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50481"/>
            <a:ext cx="2651760" cy="16573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11880" y="4550481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Instancia 68: producto 9999, el catálogo responde 404 y ProductoInexistente rechaza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Instancia 69: 30 MacBook Pro con stock 24 y StockInsuficiente rechaza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pasan por el jefe ni por Compras; Liberar memoria limpia la sesión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Correo: Solicitud de compra - RECHAZADA, con el motivo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Despliegue y ejecución en Business Central</a:t>
            </a:r>
            <a:endParaRPr lang="en-US" sz="3200" dirty="0"/>
          </a:p>
        </p:txBody>
      </p:sp>
      <p:sp>
        <p:nvSpPr>
          <p:cNvPr id="3" name="Captura build exitoso marco"/>
          <p:cNvSpPr/>
          <p:nvPr/>
        </p:nvSpPr>
        <p:spPr>
          <a:xfrm>
            <a:off x="512064" y="1289304"/>
            <a:ext cx="5468112" cy="344500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Captura build exitoso" descr="Captura build exito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394960" cy="3371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78917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Proyecto importado desde GitHub, compilado y desplegado</a:t>
            </a:r>
            <a:endParaRPr lang="en-US" sz="1100" dirty="0"/>
          </a:p>
        </p:txBody>
      </p:sp>
      <p:sp>
        <p:nvSpPr>
          <p:cNvPr id="6" name="Captura instancias completadas marco"/>
          <p:cNvSpPr/>
          <p:nvPr/>
        </p:nvSpPr>
        <p:spPr>
          <a:xfrm>
            <a:off x="6208776" y="1289304"/>
            <a:ext cx="5468112" cy="344500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7" name="Captura instancias completadas" descr="Captura instancias completad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325880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45352" y="478917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Instancias 65 a 69 completadas, sin errores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Tarea humana del jefe</a:t>
            </a:r>
            <a:endParaRPr lang="en-US" sz="3200" dirty="0"/>
          </a:p>
        </p:txBody>
      </p:sp>
      <p:sp>
        <p:nvSpPr>
          <p:cNvPr id="3" name="Captura tareas pendientes del jefe marco"/>
          <p:cNvSpPr/>
          <p:nvPr/>
        </p:nvSpPr>
        <p:spPr>
          <a:xfrm>
            <a:off x="512064" y="1289304"/>
            <a:ext cx="5468112" cy="344500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Captura tareas pendientes del jefe" descr="Captura tareas pendientes del je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394960" cy="3371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78917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Dos solicitudes esperando la evaluación del jefe</a:t>
            </a:r>
            <a:endParaRPr lang="en-US" sz="1100" dirty="0"/>
          </a:p>
        </p:txBody>
      </p:sp>
      <p:sp>
        <p:nvSpPr>
          <p:cNvPr id="6" name="Captura formulario Evaluar solicitud marco"/>
          <p:cNvSpPr/>
          <p:nvPr/>
        </p:nvSpPr>
        <p:spPr>
          <a:xfrm>
            <a:off x="6208776" y="1289304"/>
            <a:ext cx="5468112" cy="344500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7" name="Captura formulario Evaluar solicitud" descr="Captura formulario Evaluar solicitu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325880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45352" y="478917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Formulario con el resumen de la compra y la decisión Aprobada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reglas separan la decisión del flujo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03911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El umbral de S/ 500 y las validaciones viven en reglas guiadas, DSL y una tabla de decisiones; el diagrama solo lee la ruta calculada.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integraciones quedan desacopladas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59359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REST y Gmail son work item handlers configurables; los 5 escenarios se ejecutaron de punta a punta con datos reales del catálogo.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709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663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reglas son verificables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514807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Los 8 escenarios de prueba pasan en Business Central y la tarea Liberar memoria deja la sesión sin hechos al terminar cada evaluación.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Recomendaciones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Proteger las credenciales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03911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Guardar la clave de Gmail fuera del proyecto (propiedades del servidor o un gestor de secretos) y revocar la usada en las pruebas.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Robustecer las tareas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59359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Agregar manejo de errores y reintentos a la consulta REST, y formularios propios para las tareas humanas en lugar de los generados.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709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663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Escalar la política de aprobación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514807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Llevar la tabla a una tabla guiada con más niveles (por ejemplo gerencia) y usar la estrategia por instancia de proceso para mayor concurrencia.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stión de Compras">
  <a:themeElements>
    <a:clrScheme name="Gestión de Compras">
      <a:dk1>
        <a:srgbClr val="1F2A37"/>
      </a:dk1>
      <a:lt1>
        <a:srgbClr val="FFFFFF"/>
      </a:lt1>
      <a:dk2>
        <a:srgbClr val="0F4C5C"/>
      </a:dk2>
      <a:lt2>
        <a:srgbClr val="EEF4F5"/>
      </a:lt2>
      <a:accent1>
        <a:srgbClr val="F2A541"/>
      </a:accent1>
      <a:accent2>
        <a:srgbClr val="2E8B57"/>
      </a:accent2>
      <a:accent3>
        <a:srgbClr val="C8553D"/>
      </a:accent3>
      <a:accent4>
        <a:srgbClr val="5B8C9A"/>
      </a:accent4>
      <a:accent5>
        <a:srgbClr val="BFD4D9"/>
      </a:accent5>
      <a:accent6>
        <a:srgbClr val="6B7280"/>
      </a:accent6>
      <a:hlink>
        <a:srgbClr val="0F4C5C"/>
      </a:hlink>
      <a:folHlink>
        <a:srgbClr val="5B8C9A"/>
      </a:folHlink>
    </a:clrScheme>
    <a:fontScheme name="Gestión de Compr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de Solicitudes de Compra - Evaluación Final BPM</dc:title>
  <dc:subject>PptxGenJS Presentation</dc:subject>
  <dc:creator>PptxGenJS</dc:creator>
  <cp:lastModifiedBy>PptxGenJS</cp:lastModifiedBy>
  <cp:revision>1</cp:revision>
  <dcterms:created xsi:type="dcterms:W3CDTF">2026-10-24T06:47:57Z</dcterms:created>
  <dcterms:modified xsi:type="dcterms:W3CDTF">2026-10-24T06:47:57Z</dcterms:modified>
</cp:coreProperties>
</file>